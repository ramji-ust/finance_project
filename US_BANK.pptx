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63" d="100"/>
          <a:sy n="63" d="100"/>
        </p:scale>
        <p:origin x="7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us-bank-41cg.onrender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6000" dirty="0"/>
              <a:t>US BANK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546164"/>
          </a:xfrm>
        </p:spPr>
        <p:txBody>
          <a:bodyPr>
            <a:normAutofit lnSpcReduction="10000"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MEMBERS:-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Ramji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Ganga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Ponnulekshmi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7CEE1-12A7-83A1-B74A-27C1DF858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336713"/>
          </a:xfrm>
        </p:spPr>
        <p:txBody>
          <a:bodyPr/>
          <a:lstStyle/>
          <a:p>
            <a:r>
              <a:rPr lang="en-US" dirty="0"/>
              <a:t>Table of 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E757E-C0D0-907C-C40D-F513A7F07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Overview of Finance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Finance Tools and Module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Overview of Django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Overview of ML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Improvements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Conclusion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4909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F998C-FF71-6466-7D42-5199B1C0E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US" dirty="0"/>
              <a:t>Overview of Finance Module</a:t>
            </a:r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B35E94A-FDAA-8369-6BF9-BAFAA401B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3760891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A Python module designed to offer key financial utilities for users.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Integrated into Django banking platform.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Focused on ease of use, accuracy, and real-world financial logic.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Empowers users to make informed financial decisions via various calculators.</a:t>
            </a:r>
          </a:p>
          <a:p>
            <a:pPr marL="0" indent="0">
              <a:buNone/>
            </a:pPr>
            <a:r>
              <a:rPr lang="en-US" sz="2300" b="1" u="sng" dirty="0"/>
              <a:t>TESTING</a:t>
            </a:r>
            <a:r>
              <a:rPr lang="en-US" sz="2300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Purpose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Ensures each calculator functions correctly with a wide range of input scenarios.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Tools Used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unittest.TestCase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(Python standard library)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Coverage: All 10 financial tools are tested for:</a:t>
            </a:r>
          </a:p>
          <a:p>
            <a:pPr marL="578358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1900" dirty="0"/>
              <a:t>Correct formula implementation</a:t>
            </a:r>
          </a:p>
          <a:p>
            <a:pPr marL="578358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1900" dirty="0"/>
              <a:t>Input validation (e.g., negative values, zero inputs)</a:t>
            </a:r>
          </a:p>
          <a:p>
            <a:pPr marL="578358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900" dirty="0"/>
              <a:t>Edge cases (like large amounts or extreme durations)</a:t>
            </a:r>
            <a:endParaRPr lang="en-IN" sz="1900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027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87A95-2660-E404-2BE7-7A414D6C4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Finance Tools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3390736-4242-BCF6-013E-43742CB4D7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1500233"/>
              </p:ext>
            </p:extLst>
          </p:nvPr>
        </p:nvGraphicFramePr>
        <p:xfrm>
          <a:off x="1178560" y="2028390"/>
          <a:ext cx="10149840" cy="4035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7460">
                  <a:extLst>
                    <a:ext uri="{9D8B030D-6E8A-4147-A177-3AD203B41FA5}">
                      <a16:colId xmlns:a16="http://schemas.microsoft.com/office/drawing/2014/main" val="532218329"/>
                    </a:ext>
                  </a:extLst>
                </a:gridCol>
                <a:gridCol w="2537460">
                  <a:extLst>
                    <a:ext uri="{9D8B030D-6E8A-4147-A177-3AD203B41FA5}">
                      <a16:colId xmlns:a16="http://schemas.microsoft.com/office/drawing/2014/main" val="1858818465"/>
                    </a:ext>
                  </a:extLst>
                </a:gridCol>
                <a:gridCol w="2537460">
                  <a:extLst>
                    <a:ext uri="{9D8B030D-6E8A-4147-A177-3AD203B41FA5}">
                      <a16:colId xmlns:a16="http://schemas.microsoft.com/office/drawing/2014/main" val="1234010078"/>
                    </a:ext>
                  </a:extLst>
                </a:gridCol>
                <a:gridCol w="2537460">
                  <a:extLst>
                    <a:ext uri="{9D8B030D-6E8A-4147-A177-3AD203B41FA5}">
                      <a16:colId xmlns:a16="http://schemas.microsoft.com/office/drawing/2014/main" val="1212572445"/>
                    </a:ext>
                  </a:extLst>
                </a:gridCol>
              </a:tblGrid>
              <a:tr h="3281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TOOLS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INPUT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REMARKS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794652"/>
                  </a:ext>
                </a:extLst>
              </a:tr>
              <a:tr h="274118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Home Loan Eligibility Estimator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Calculates loan eligibility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Income, expenses, rate, tenure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Uses EMI and income-expense ratio</a:t>
                      </a:r>
                      <a:endParaRPr lang="en-I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655604"/>
                  </a:ext>
                </a:extLst>
              </a:tr>
              <a:tr h="410188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Credit Card Interest Calculator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Estimates interest on credit card dues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Amount, interest rate, duration</a:t>
                      </a:r>
                    </a:p>
                    <a:p>
                      <a:pPr algn="ctr"/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Uses simple/compound interest formula</a:t>
                      </a:r>
                      <a:endParaRPr lang="en-I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149522"/>
                  </a:ext>
                </a:extLst>
              </a:tr>
              <a:tr h="410188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Taxable Income Calculator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Computes taxable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Gross income, deductions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Subtracts exemptions to calculate tax</a:t>
                      </a:r>
                      <a:endParaRPr lang="en-I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147484"/>
                  </a:ext>
                </a:extLst>
              </a:tr>
              <a:tr h="274118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Simple Budget Planner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Assists in monthly budgeting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Income, expenses, savings 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Shows remaining balance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195456"/>
                  </a:ext>
                </a:extLst>
              </a:tr>
              <a:tr h="410188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Net Worth Calculator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Calculates user's net worth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Assets and liabilities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Logic: Net Worth = Assets - Liabilities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787075"/>
                  </a:ext>
                </a:extLst>
              </a:tr>
              <a:tr h="41018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EMI Calculator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Calculates the monthly installment for any loan.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Loan amount, interest rate, and tenure.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Uses standard EMI formula based on reducing balance method.</a:t>
                      </a:r>
                      <a:endParaRPr lang="en-I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023046"/>
                  </a:ext>
                </a:extLst>
              </a:tr>
              <a:tr h="574263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FD Calculator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Computes returns from a Fixed Deposit investment.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Principal amount, interest rate, and investment period.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Uses compound interest (quarterly/yearly) to calculate maturity value.</a:t>
                      </a:r>
                      <a:endParaRPr lang="en-I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011744"/>
                  </a:ext>
                </a:extLst>
              </a:tr>
              <a:tr h="410188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RD Calculator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Calculates the maturity value of a Recurring Deposit.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Monthly deposit, interest rate, and duration.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Uses formula accounting for monthly compounding of deposits.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968941"/>
                  </a:ext>
                </a:extLst>
              </a:tr>
              <a:tr h="410188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Retirement Planner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Estimates the corpus required to sustain retirement lifestyle.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Current age, retirement age, monthly expenses, inflation, expected returns.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Projects future cost of living and calculates present-day savings needed.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290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6219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D4219-6917-2507-E83C-AC89D2A29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Django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0FBA2-93C9-7CD3-9872-38ED8CD2F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Project Name </a:t>
            </a:r>
            <a:r>
              <a:rPr lang="en-US" dirty="0"/>
              <a:t>: </a:t>
            </a:r>
            <a:r>
              <a:rPr lang="en-US" sz="1600" dirty="0"/>
              <a:t>US Bank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Framework</a:t>
            </a:r>
            <a:r>
              <a:rPr lang="en-IN" dirty="0"/>
              <a:t> : </a:t>
            </a:r>
            <a:r>
              <a:rPr lang="en-US" sz="1600" dirty="0"/>
              <a:t>Built with </a:t>
            </a:r>
            <a:r>
              <a:rPr lang="en-US" sz="1600" b="1" dirty="0"/>
              <a:t>Django</a:t>
            </a:r>
            <a:r>
              <a:rPr lang="en-US" sz="1600" dirty="0"/>
              <a:t>, a high-level Python web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800" b="1" dirty="0"/>
              <a:t>Purpose</a:t>
            </a:r>
            <a:r>
              <a:rPr lang="en-US" sz="1600" dirty="0"/>
              <a:t> : Provide users with secure access to banking tools and financial calculators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800" b="1" dirty="0"/>
              <a:t>Testing and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 Key Features </a:t>
            </a:r>
            <a:r>
              <a:rPr lang="en-US" sz="1600" dirty="0"/>
              <a:t>: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b="1" dirty="0"/>
              <a:t> User authentication – </a:t>
            </a:r>
            <a:r>
              <a:rPr lang="en-US" sz="1600" dirty="0"/>
              <a:t>Registration, login, logout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/>
              <a:t> </a:t>
            </a:r>
            <a:r>
              <a:rPr lang="en-US" sz="1600" b="1" dirty="0"/>
              <a:t>Bank Account Management </a:t>
            </a:r>
            <a:r>
              <a:rPr lang="en-US" sz="1600" dirty="0"/>
              <a:t>: View account details, deposit, withdraw functionality, transaction history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/>
              <a:t> </a:t>
            </a:r>
            <a:r>
              <a:rPr lang="en-US" sz="1600" b="1" dirty="0"/>
              <a:t>Finance Tools Integration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b="1" dirty="0"/>
              <a:t> ML based Loan Predictor : </a:t>
            </a:r>
            <a:r>
              <a:rPr lang="en-US" sz="1600" dirty="0"/>
              <a:t>Simple machine learning model to predict loan eligibility using user inputs.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330139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BA8F8-720E-07E4-9CAB-FDC8F9337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B953C-D58C-1406-29C3-6CAA4EBB6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1400" b="1" dirty="0"/>
              <a:t>Loads the dataset </a:t>
            </a:r>
            <a:r>
              <a:rPr lang="en-US" dirty="0"/>
              <a:t>: </a:t>
            </a:r>
            <a:r>
              <a:rPr lang="en-US" sz="1600" dirty="0"/>
              <a:t>This reads your dataset into a Data Frame so we can analyze and manipulate it easily.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 </a:t>
            </a:r>
            <a:r>
              <a:rPr lang="en-US" sz="1400" b="1" dirty="0"/>
              <a:t>Perform Basic EDA (Exploratory Data Analysis</a:t>
            </a:r>
            <a:r>
              <a:rPr lang="en-US" sz="1400" dirty="0"/>
              <a:t>) :</a:t>
            </a:r>
            <a:r>
              <a:rPr lang="en-US" sz="1600" dirty="0"/>
              <a:t>This step helps us understand the structure, missing values, and basic statistics of our dataset.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 </a:t>
            </a:r>
            <a:r>
              <a:rPr lang="en-US" sz="1400" b="1" dirty="0"/>
              <a:t>Data Preprocessing and Model Training </a:t>
            </a:r>
            <a:r>
              <a:rPr lang="en-US" sz="1400" dirty="0"/>
              <a:t>: This block handles feature selection, splits data, encodes categorical features, trains the model, and evaluates it.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 </a:t>
            </a:r>
            <a:r>
              <a:rPr lang="en-US" sz="1400" b="1" dirty="0"/>
              <a:t>Save the model for Django Integration </a:t>
            </a:r>
            <a:r>
              <a:rPr lang="en-US" sz="1400" dirty="0"/>
              <a:t>:  Save the model in a pickle file using </a:t>
            </a:r>
            <a:r>
              <a:rPr lang="en-US" sz="1400" dirty="0" err="1"/>
              <a:t>joblib</a:t>
            </a:r>
            <a:r>
              <a:rPr lang="en-US" sz="1400" dirty="0"/>
              <a:t>. This will be loaded in the Django views to make predictions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795849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782AE-F917-CAFD-C871-6D3A32FB4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C63D6-393D-173B-50EA-1B014FBF0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 </a:t>
            </a:r>
            <a:r>
              <a:rPr lang="en-IN" sz="1600" dirty="0"/>
              <a:t>Real-time, user-friendly tools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/>
              <a:t> </a:t>
            </a:r>
            <a:r>
              <a:rPr lang="en-US" sz="1600" dirty="0"/>
              <a:t>Reduces reliance on external tools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 Modular Design</a:t>
            </a:r>
            <a:r>
              <a:rPr lang="en-US" sz="1600" b="1" dirty="0"/>
              <a:t>:</a:t>
            </a:r>
            <a:r>
              <a:rPr lang="en-US" sz="1600" dirty="0"/>
              <a:t> Separate apps for clarity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 </a:t>
            </a:r>
            <a:r>
              <a:rPr lang="sv-SE" sz="1600" dirty="0"/>
              <a:t>ML Integration</a:t>
            </a:r>
            <a:r>
              <a:rPr lang="sv-SE" sz="1600" b="1" dirty="0"/>
              <a:t>:</a:t>
            </a:r>
            <a:r>
              <a:rPr lang="sv-SE" sz="1600" dirty="0"/>
              <a:t> Smart decision support system</a:t>
            </a:r>
            <a:endParaRPr lang="en-US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 Reusable Tools</a:t>
            </a:r>
            <a:r>
              <a:rPr lang="en-US" sz="1600" b="1" dirty="0"/>
              <a:t>:</a:t>
            </a:r>
            <a:r>
              <a:rPr lang="en-US" sz="1600" dirty="0"/>
              <a:t> Finance utilities in finance tools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 Data-Driven</a:t>
            </a:r>
            <a:r>
              <a:rPr lang="en-US" sz="1600" b="1" dirty="0"/>
              <a:t>:</a:t>
            </a:r>
            <a:r>
              <a:rPr lang="en-US" sz="1600" dirty="0"/>
              <a:t> Transaction logs and auditability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 </a:t>
            </a:r>
            <a:r>
              <a:rPr lang="en-IN" sz="1600" dirty="0"/>
              <a:t>Secure User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1181343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28D3-278A-C945-16A8-4F0D4E78F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28341-516F-A5E0-2E37-4D6D5B162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Enhance ML model: Add classification on loan approval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IN" dirty="0"/>
              <a:t>Email Notifications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IN" dirty="0"/>
              <a:t>Multi-Account Support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Advanced Search/Filter in Transaction History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IN" dirty="0"/>
              <a:t>Two-Factor Authentication (2FA)</a:t>
            </a:r>
          </a:p>
        </p:txBody>
      </p:sp>
    </p:spTree>
    <p:extLst>
      <p:ext uri="{BB962C8B-B14F-4D97-AF65-F5344CB8AC3E}">
        <p14:creationId xmlns:p14="http://schemas.microsoft.com/office/powerpoint/2010/main" val="2497981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9D94F-402C-AA17-D839-682D9D45F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A7521-01FF-3B68-3C20-03DFB9877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Provides a </a:t>
            </a:r>
            <a:r>
              <a:rPr lang="en-US" b="1" dirty="0"/>
              <a:t>secure</a:t>
            </a:r>
            <a:r>
              <a:rPr lang="en-US" dirty="0"/>
              <a:t>, </a:t>
            </a:r>
            <a:r>
              <a:rPr lang="en-US" b="1" dirty="0"/>
              <a:t>scalable</a:t>
            </a:r>
            <a:r>
              <a:rPr lang="en-US" dirty="0"/>
              <a:t>, and </a:t>
            </a:r>
            <a:r>
              <a:rPr lang="en-US" b="1" dirty="0"/>
              <a:t>user-friendly</a:t>
            </a:r>
            <a:r>
              <a:rPr lang="en-US" dirty="0"/>
              <a:t> environment for managing personal finances.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It combines essential banking operations with intelligent financial calculators, empowering users to make </a:t>
            </a:r>
            <a:r>
              <a:rPr lang="en-US" b="1" dirty="0"/>
              <a:t>informed financial decisions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Built with a modular structure and robust testing, the system ensures </a:t>
            </a:r>
            <a:r>
              <a:rPr lang="en-US" b="1" dirty="0"/>
              <a:t>reliability</a:t>
            </a:r>
            <a:r>
              <a:rPr lang="en-US" dirty="0"/>
              <a:t>, </a:t>
            </a:r>
            <a:r>
              <a:rPr lang="en-US" b="1" dirty="0"/>
              <a:t>extensibility</a:t>
            </a:r>
            <a:r>
              <a:rPr lang="en-US" dirty="0"/>
              <a:t>, and </a:t>
            </a:r>
            <a:r>
              <a:rPr lang="en-US" b="1" dirty="0"/>
              <a:t>future readiness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Website :- </a:t>
            </a:r>
            <a:r>
              <a:rPr lang="en-US" dirty="0">
                <a:hlinkClick r:id="rId2"/>
              </a:rPr>
              <a:t>https://us-bank-41cg.onrender.</a:t>
            </a:r>
            <a:r>
              <a:rPr lang="en-US">
                <a:hlinkClick r:id="rId2"/>
              </a:rPr>
              <a:t>com/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538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{E3AEE3BB-0480-46E3-8B85-F43A3428BED6}tf56160789_win32</Template>
  <TotalTime>85</TotalTime>
  <Words>723</Words>
  <Application>Microsoft Office PowerPoint</Application>
  <PresentationFormat>Widescreen</PresentationFormat>
  <Paragraphs>100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Bookman Old Style</vt:lpstr>
      <vt:lpstr>Calibri</vt:lpstr>
      <vt:lpstr>Franklin Gothic Book</vt:lpstr>
      <vt:lpstr>Wingdings</vt:lpstr>
      <vt:lpstr>Custom</vt:lpstr>
      <vt:lpstr>US BANK APPLICATION</vt:lpstr>
      <vt:lpstr>Table of Contents</vt:lpstr>
      <vt:lpstr>Overview of Finance Module</vt:lpstr>
      <vt:lpstr>Finance Tools</vt:lpstr>
      <vt:lpstr>Overview of Django Project</vt:lpstr>
      <vt:lpstr>ML Model</vt:lpstr>
      <vt:lpstr>ADVANTAGES</vt:lpstr>
      <vt:lpstr>IMPROVEMENTS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Ponnulekshmi Prasad(UST,IN)</dc:creator>
  <cp:lastModifiedBy>Ramji Chandra Kumar Raja Kumari(UST,IN)</cp:lastModifiedBy>
  <cp:revision>5</cp:revision>
  <dcterms:created xsi:type="dcterms:W3CDTF">2025-05-02T04:39:17Z</dcterms:created>
  <dcterms:modified xsi:type="dcterms:W3CDTF">2025-05-02T06:30:58Z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